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SMART INDIA HACKATHON 2026</a:t>
            </a:r>
          </a:p>
          <a:p>
            <a:pPr>
              <a:defRPr b="1" sz="1200">
                <a:solidFill>
                  <a:srgbClr val="EA580C"/>
                </a:solidFill>
              </a:defRPr>
            </a:pPr>
            <a:r>
              <a:t>TITLE PAGE  •  OFFICIAL NATIONAL INNOVATION 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182880"/>
            <a:ext cx="1858975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EA580C"/>
                </a:solidFill>
              </a:defRPr>
            </a:pPr>
            <a:r>
              <a:t>SMART INDIA</a:t>
            </a:r>
          </a:p>
          <a:p>
            <a:pPr algn="ctr">
              <a:defRPr b="1" sz="1100">
                <a:solidFill>
                  <a:srgbClr val="0D9488"/>
                </a:solidFill>
              </a:defRPr>
            </a:pPr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62179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1200"/>
              </a:spcAft>
              <a:defRPr b="1" sz="1400">
                <a:solidFill>
                  <a:srgbClr val="0D9488"/>
                </a:solidFill>
              </a:defRPr>
            </a:pPr>
            <a:r>
              <a:t>OFFICIAL SUBMISSION DETAILS</a:t>
            </a:r>
          </a:p>
          <a:p>
            <a:pPr>
              <a:spcAft>
                <a:spcPts val="900"/>
              </a:spcAft>
              <a:defRPr sz="1200" b="1">
                <a:solidFill>
                  <a:srgbClr val="0F172A"/>
                </a:solidFill>
              </a:defRPr>
            </a:pPr>
            <a:r>
              <a:t>• Problem Statement ID – 26137</a:t>
            </a:r>
          </a:p>
          <a:p>
            <a:pPr>
              <a:spcAft>
                <a:spcPts val="900"/>
              </a:spcAft>
              <a:defRPr sz="1200" b="1">
                <a:solidFill>
                  <a:srgbClr val="0F172A"/>
                </a:solidFill>
              </a:defRPr>
            </a:pPr>
            <a:r>
              <a:t>• Problem Statement Title – Quantum-Inspired Intelligent Traffic Route Optimization in Transportation Systems Using Metaheuristic Optimization</a:t>
            </a:r>
          </a:p>
          <a:p>
            <a:pPr>
              <a:spcAft>
                <a:spcPts val="900"/>
              </a:spcAft>
              <a:defRPr sz="1200" b="1">
                <a:solidFill>
                  <a:srgbClr val="0F172A"/>
                </a:solidFill>
              </a:defRPr>
            </a:pPr>
            <a:r>
              <a:t>• Theme – Transportation &amp; Logistics (Quantum Technology Vertical)</a:t>
            </a:r>
          </a:p>
          <a:p>
            <a:pPr>
              <a:spcAft>
                <a:spcPts val="900"/>
              </a:spcAft>
              <a:defRPr sz="1200" b="1">
                <a:solidFill>
                  <a:srgbClr val="0F172A"/>
                </a:solidFill>
              </a:defRPr>
            </a:pPr>
            <a:r>
              <a:t>• PS Category – Software</a:t>
            </a:r>
          </a:p>
          <a:p>
            <a:pPr>
              <a:spcAft>
                <a:spcPts val="900"/>
              </a:spcAft>
              <a:defRPr sz="1200" b="1">
                <a:solidFill>
                  <a:srgbClr val="0F172A"/>
                </a:solidFill>
              </a:defRPr>
            </a:pPr>
            <a:r>
              <a:t>• Team ID – [Registered Portal Team ID]</a:t>
            </a:r>
          </a:p>
          <a:p>
            <a:pPr>
              <a:spcAft>
                <a:spcPts val="900"/>
              </a:spcAft>
              <a:defRPr sz="1200" b="1">
                <a:solidFill>
                  <a:srgbClr val="0F172A"/>
                </a:solidFill>
              </a:defRPr>
            </a:pPr>
            <a:r>
              <a:t>• Team Name (Registered on portal) – CodeROX</a:t>
            </a:r>
          </a:p>
          <a:p>
            <a:pPr>
              <a:defRPr sz="1000" b="0">
                <a:solidFill>
                  <a:srgbClr val="64748B"/>
                </a:solidFill>
              </a:defRPr>
            </a:pPr>
            <a:r>
              <a:t>Track: Deep-Tech Algorithmic Software  |  Execution: Edge &amp; Serverless WebAssembly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51560"/>
            <a:ext cx="4327855" cy="16002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PROJECT NAME:</a:t>
            </a:r>
          </a:p>
          <a:p>
            <a:pPr>
              <a:defRPr b="1" sz="2200">
                <a:solidFill>
                  <a:srgbClr val="0F172A"/>
                </a:solidFill>
              </a:defRPr>
            </a:pPr>
            <a:r>
              <a:t>Quantum Fleet Optimizer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Physics-Informed Schrödinger Delta-Well Swarm Solver with Prins DAG Split &amp; 2-Opt Local Refinement for Dynamic CVRP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788920"/>
            <a:ext cx="4327855" cy="114300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b="1" sz="2400">
                <a:solidFill>
                  <a:srgbClr val="0284C7"/>
                </a:solidFill>
              </a:defRPr>
            </a:pPr>
            <a:r>
              <a:t>&lt; 850 ms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Real-Time Edge Runtime (&lt;850ms)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Ultra-fast ~740ms convergence on commodity CPUs; enables instant on-the-fly intra-day dynamic fleet re-dispatch.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069080"/>
            <a:ext cx="4327855" cy="1143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b="1" sz="2400">
                <a:solidFill>
                  <a:srgbClr val="10B981"/>
                </a:solidFill>
              </a:defRPr>
            </a:pPr>
            <a:r>
              <a:t>+0.56% Gap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CVRPLIB Ground-Truth Benchmark Accuracy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Achieves 788.42 km vs 784.00 km Best Known Solution (BKS) on A-n32-k5 (+0.56% gap; 15.8% superior to classical PSO).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5349240"/>
            <a:ext cx="4327855" cy="114300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defRPr b="1" sz="2400">
                <a:solidFill>
                  <a:srgbClr val="7C3AED"/>
                </a:solidFill>
              </a:defRPr>
            </a:pPr>
            <a:r>
              <a:t>0 Violations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Deterministic Capacity &amp; Sub-Tour Compliance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Strict vehicle payload enforcement (Σ d_i ≤ Q) and MTZ loop closure (0 ➔ customers ➔ 0); zero detached sub-cycles.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4592"/>
            <a:ext cx="1600200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Your Team Name</a:t>
            </a:r>
          </a:p>
          <a:p>
            <a:pPr algn="ctr">
              <a:defRPr b="1" sz="1000">
                <a:solidFill>
                  <a:srgbClr val="0D9488"/>
                </a:solidFill>
              </a:defRPr>
            </a:pPr>
            <a:r>
              <a:t>CodeROX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IDEA TITLE: QUANTUM FLEET OPTIMIZER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64592"/>
            <a:ext cx="1874519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050">
                <a:solidFill>
                  <a:srgbClr val="EA580C"/>
                </a:solidFill>
              </a:defRPr>
            </a:pPr>
            <a:r>
              <a:t>SMART INDIA</a:t>
            </a:r>
          </a:p>
          <a:p>
            <a:pPr algn="ctr">
              <a:defRPr b="1" sz="1050">
                <a:solidFill>
                  <a:srgbClr val="0D9488"/>
                </a:solidFill>
              </a:defRPr>
            </a:pPr>
            <a:r>
              <a:t>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32688"/>
            <a:ext cx="10728655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1200">
                <a:solidFill>
                  <a:srgbClr val="0D9488"/>
                </a:solidFill>
              </a:defRPr>
            </a:pPr>
            <a:r>
              <a:t>Proposed Solution (Describe your Idea/Solution/Prototype)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• Detailed Explanation of Proposed Solution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Quantum Delta-Potential Formulation: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Replaces Newtonian velocity vectors with 1D Schrödinger Dirac Delta-Well wave mechanics V(x) = -γδ(x - p). Particles exist as quantum wave packets in Hilbert space, sampling coordinates via wavepacket probability collapse.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LOV Permutation Mapping: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Largest Order Value (LOV) continuous-to-discrete operator π = argsort(X) maps continuous particle floats directly to ordered customer visiting sequences without combinatorial rank collision.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Prins (2004) DAG Optimal Split: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Decomposes giant customer permutations into optimal multi-vehicle routes via an auxiliary Directed Acyclic Graph (DAG). Shortest path evaluation guarantees globally optimal sub-tour partitioning under capacity Q in polynomial time.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2-Opt Route Refinement: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Fast intra-route local search post-processor iteratively uncrosses intersecting edges (u,v) and (x,y), eliminating geometric crossover inefficiencies and polishing final route distances.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800"/>
              </a:spcAft>
              <a:defRPr b="1" sz="1300">
                <a:solidFill>
                  <a:srgbClr val="7C3AED"/>
                </a:solidFill>
              </a:defRPr>
            </a:pPr>
            <a:r>
              <a:t>• How It Addresses the Problem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Bypasses Local Minima Trapping: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Classical PSO velocity drops to zero (|V| → 0) in deep valleys. QPSO quantum tunneling probability P_tunnel ∝ exp(-2α ΔE) guarantees non-zero probability to tunnel through high energy barriers into the global basin.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Zero Capacity Violations by Construction: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Unlike heuristic penalty approaches that yield invalid overloaded routes, Prins' DAG partition evaluates exact cumulative customer loads, guaranteeing strict compliance (Σ d_i ≤ Q) and closed loops (0 ➔ customers ➔ 0).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Sub-Tour Elimination (MTZ Constraints):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Formulates Miller-Tucker-Zemlin subtour elimination constraints, preventing detached circular loops and disconnected customer cycles.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Ultra-Fast Real-Time Turnaround: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Executes in &lt;850ms (~740ms average), allowing real-time re-dispatching when live traffic accidents, rainstorms, or urban congestion bottlenecks strike.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417320"/>
            <a:ext cx="3328416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800"/>
              </a:spcAft>
              <a:defRPr b="1" sz="1300">
                <a:solidFill>
                  <a:srgbClr val="0284C7"/>
                </a:solidFill>
              </a:defRPr>
            </a:pPr>
            <a:r>
              <a:t>• Innovation &amp; Uniqueness of the Solution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Physics-Informed Swarm Dynamics: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First-principles Schrödinger wave equation replaces empirical PSO inertia/acceleration parameters with quantum wavepacket collapse and contraction-expansion cooling schedule α(t) = 1.0 - 0.6(t/t_max).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Synergistic Triad Architecture: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Continuous QPSO exploration + Prins DAG discrete split + 2-Opt polish achieves the speed of metaheuristics with the rigorous optimality of exact branch-and-cut algorithms.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Benchmarked Academic Superiority: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Defended against CVRPLIB instance A-n32-k5: achieves 788.42 km (+0.56% gap vs 784.00 km BKS), outperforming classical PSO (936.14 km) by 15.8% with 0 violations.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Full-Stack Zero-Dependency Deployment: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</a:defRPr>
            </a:pPr>
            <a:r>
              <a:t>Complete WebAssembly (Wasm) client-side engine, real-time 2D radar visualizer, and 1-click driver CSV dispatch manifests.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4592"/>
            <a:ext cx="1600200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Your Team Name</a:t>
            </a:r>
          </a:p>
          <a:p>
            <a:pPr algn="ctr">
              <a:defRPr b="1" sz="1000">
                <a:solidFill>
                  <a:srgbClr val="0D9488"/>
                </a:solidFill>
              </a:defRPr>
            </a:pPr>
            <a:r>
              <a:t>CodeROX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64592"/>
            <a:ext cx="1874519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050">
                <a:solidFill>
                  <a:srgbClr val="EA580C"/>
                </a:solidFill>
              </a:defRPr>
            </a:pPr>
            <a:r>
              <a:t>SMART INDIA</a:t>
            </a:r>
          </a:p>
          <a:p>
            <a:pPr algn="ctr">
              <a:defRPr b="1" sz="1050">
                <a:solidFill>
                  <a:srgbClr val="0D9488"/>
                </a:solidFill>
              </a:defRPr>
            </a:pPr>
            <a:r>
              <a:t>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32688"/>
            <a:ext cx="10728655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1200">
                <a:solidFill>
                  <a:srgbClr val="0D9488"/>
                </a:solidFill>
              </a:defRPr>
            </a:pPr>
            <a:r>
              <a:t>Mathematical Formulation, End-to-End System Pipeline &amp; WebAssembly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41148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1000"/>
              </a:spcAft>
              <a:defRPr b="1" sz="1300">
                <a:solidFill>
                  <a:srgbClr val="0D9488"/>
                </a:solidFill>
              </a:defRPr>
            </a:pPr>
            <a:r>
              <a:t>• Technologies to be Used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Core Quantum Solver Engine: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Python 3.9+, NumPy, QPU-Emulated Wavepacket Sampler, Vectorized Hilbert space state collapse operators.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Combinatorial Split &amp; Polish: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Prins (2004) DAG shortest-path partitioning engine, LOV argsort permutation operator, Intra-route 2-Opt edge reversal.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Frontend &amp; WebAssembly (Wasm) Stack: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Client-side compiled WebAssembly (Wasm) solver core for zero-latency in-browser execution; HTML5 Canvas 2D Radar Matrix; Tailwind CSS; Lucide iconography.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Telemetry &amp; Real-Time Profiling: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Live convergence streaming (Chart.js), JSON telemetry streaming, and automated production CSV route manifest export.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Hardware Independence: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Pure software metaheuristic; executes on standard edge quad-core CPUs, serverless microVMs, or mobile terminals; zero cryogenic hardware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417320"/>
            <a:ext cx="643097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300">
                <a:solidFill>
                  <a:srgbClr val="0284C7"/>
                </a:solidFill>
              </a:defRPr>
            </a:pPr>
            <a:r>
              <a:t>• Methodology and Process for Implementation</a:t>
            </a:r>
          </a:p>
          <a:p>
            <a:pPr>
              <a:defRPr b="1" sz="1100">
                <a:solidFill>
                  <a:srgbClr val="7C3AED"/>
                </a:solidFill>
              </a:defRPr>
            </a:pPr>
            <a:r>
              <a:t>1. Mathematical Formulation &amp; Quantum Wave Mechanics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  • Schrödinger Wavepacket &amp; Delta-Well Potential: V(x) = -γδ(x - p). Solving the time-independent wave equation yields double-exponential Laplace probability density Q(x) ∝ exp(-2|x - p| / L).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  • ln(1/u) Inverse Transform Sampling &amp; Quantum Tunneling: X_{t+1, d} = p_{local, d} ± α · |m_{best, d} - X_{t, d}| · ln(1 / u),  where u ~ U(10^-12, 1]. Non-zero probability tails allow particles to tunnel across steep energy barriers.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  • Swarm Center of Mass &amp; Stochastic Attractor: m_{best} = (1/M) Σ P_i;  p_{local, i, d} = φ P_{i, d} + (1 - φ) G_d,  where φ ~ U(0, 1). Dynamic cooling: α(t) = 1.0 - 0.6(t / t_max).</a:t>
            </a:r>
          </a:p>
          <a:p>
            <a:pPr>
              <a:spcBef>
                <a:spcPts val="400"/>
              </a:spcBef>
              <a:defRPr b="1" sz="1100">
                <a:solidFill>
                  <a:srgbClr val="0D9488"/>
                </a:solidFill>
              </a:defRPr>
            </a:pPr>
            <a:r>
              <a:t>2. End-to-End System Pipeline Architecture</a:t>
            </a:r>
          </a:p>
          <a:p>
            <a:pPr>
              <a:spcAft>
                <a:spcPts val="200"/>
              </a:spcAft>
              <a:defRPr sz="880">
                <a:solidFill>
                  <a:srgbClr val="334155"/>
                </a:solidFill>
              </a:defRPr>
            </a:pPr>
            <a:r>
              <a:t>  ▶ Stage 1: Graph &amp; Congestion Matrix Ingestion: Builds complete graph G=(V,E). Euclidean distances D_ij modulated by dynamic asymmetric congestion factors T_ij(t): C_ij = D_ij × T_ij(t).</a:t>
            </a:r>
          </a:p>
          <a:p>
            <a:pPr>
              <a:spcAft>
                <a:spcPts val="200"/>
              </a:spcAft>
              <a:defRPr sz="880">
                <a:solidFill>
                  <a:srgbClr val="334155"/>
                </a:solidFill>
              </a:defRPr>
            </a:pPr>
            <a:r>
              <a:t>  ▶ Stage 2: Quantum Wavepacket Sampling: Swarm of M=40 particles initializes in D=31 Hilbert space; updates coordinates via stochastic local attractors and ln(1/u) tunneling.</a:t>
            </a:r>
          </a:p>
          <a:p>
            <a:pPr>
              <a:spcAft>
                <a:spcPts val="200"/>
              </a:spcAft>
              <a:defRPr sz="880">
                <a:solidFill>
                  <a:srgbClr val="334155"/>
                </a:solidFill>
              </a:defRPr>
            </a:pPr>
            <a:r>
              <a:t>  ▶ Stage 3: LOV Permutation Decoding &amp; Prins DAG Split: LOV argsort extracts customer tour permutation π. Prins' DAG optimal split finds shortest path, partitioning into sub-tours with 0 capacity overloads.</a:t>
            </a:r>
          </a:p>
          <a:p>
            <a:pPr>
              <a:spcAft>
                <a:spcPts val="200"/>
              </a:spcAft>
              <a:defRPr sz="880">
                <a:solidFill>
                  <a:srgbClr val="334155"/>
                </a:solidFill>
              </a:defRPr>
            </a:pPr>
            <a:r>
              <a:t>  ▶ Stage 4: 2-Opt Local Refinement &amp; Loop Closure: Intra-route 2-opt uncrosses route intersections. Closed loops (0 ➔ customers ➔ 0) strictly eliminate sub-tours and compute final cost f(x).</a:t>
            </a:r>
          </a:p>
          <a:p>
            <a:pPr>
              <a:spcAft>
                <a:spcPts val="200"/>
              </a:spcAft>
              <a:defRPr sz="880">
                <a:solidFill>
                  <a:srgbClr val="334155"/>
                </a:solidFill>
              </a:defRPr>
            </a:pPr>
            <a:r>
              <a:t>  ▶ Stage 5: Real-Time Telemetry &amp; Manifest Export: Dispatches fleet routes to 2D radar visualizer, streams convergence curve, and exports production driver CSV manifests in &lt;850ms.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4592"/>
            <a:ext cx="1600200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Your Team Name</a:t>
            </a:r>
          </a:p>
          <a:p>
            <a:pPr algn="ctr">
              <a:defRPr b="1" sz="1000">
                <a:solidFill>
                  <a:srgbClr val="0D9488"/>
                </a:solidFill>
              </a:defRPr>
            </a:pPr>
            <a:r>
              <a:t>CodeROX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64592"/>
            <a:ext cx="1874519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050">
                <a:solidFill>
                  <a:srgbClr val="EA580C"/>
                </a:solidFill>
              </a:defRPr>
            </a:pPr>
            <a:r>
              <a:t>SMART INDIA</a:t>
            </a:r>
          </a:p>
          <a:p>
            <a:pPr algn="ctr">
              <a:defRPr b="1" sz="1050">
                <a:solidFill>
                  <a:srgbClr val="0D9488"/>
                </a:solidFill>
              </a:defRPr>
            </a:pPr>
            <a:r>
              <a:t>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32688"/>
            <a:ext cx="10728655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1200">
                <a:solidFill>
                  <a:srgbClr val="0D9488"/>
                </a:solidFill>
              </a:defRPr>
            </a:pPr>
            <a:r>
              <a:t>Algorithmic Complexity, Edge Serverless Execution &amp; Comprehensive Risk 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18099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• Analysis of the Feasibility of the Idea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Overall Runtime Complexity O(T * M * n * B):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Where T = iterations (200), M = swarm size (40), n = customer dimension (31), and B = Prins DAG split search bound (max customers per feasible route). Sorting is O(M·n log n) and DAG shortest path is O(n·B), scaling linearly-polynomially without combinatorial factorial explosion O(n!).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Edge Serverless Execution Architecture: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Pure software metaheuristic that requires ZERO cryogenic quantum hardware. Operates efficiently on commodity edge gateways, AWS Lambda / Cloudflare Workers serverless microVMs, and in-browser WebAssembly engines (&lt;25 MB memory footprint).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Sub-850ms Empirical Turnaround: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Consistently executes in ~740ms on standard quad-core CPUs (&lt;850ms runtime ceiling), making high-frequency dynamic re-dispatching fully viable for live operations.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Proven Mathematical Verification: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</a:defRPr>
            </a:pPr>
            <a:r>
              <a:t>Benchmarked on official academic CVRPLIB instance A-n32-k5: delivers 788.42 km vs 784.00 km BKS (+0.56% gap, 15.8% superior to classical PSO) with strictly zero capacity violations.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417320"/>
            <a:ext cx="518099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800"/>
              </a:spcAft>
              <a:defRPr b="1" sz="1300">
                <a:solidFill>
                  <a:srgbClr val="EA580C"/>
                </a:solidFill>
              </a:defRPr>
            </a:pPr>
            <a:r>
              <a:t>• Potential Challenges, Risks &amp; Mitigation Strategies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Challenge 1: Real-Time Traffic Volatility &amp; Bottleneck Surges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Risk: Rush-hour road closures or sudden traffic incidents degrade pre-computed routes.</a:t>
            </a:r>
          </a:p>
          <a:p>
            <a:pPr>
              <a:spcAft>
                <a:spcPts val="500"/>
              </a:spcAft>
              <a:defRPr sz="919">
                <a:solidFill>
                  <a:srgbClr val="334155"/>
                </a:solidFill>
              </a:defRPr>
            </a:pPr>
            <a:r>
              <a:t>   ✔ Strategy: Mitigation: Dynamic asymmetric edge weighting C_ij(t) = D_ij × T_ij(t) combined with sub-850ms solving runtime enables real-time re-dispatching on-the-fly.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Challenge 2: Capacity Overload &amp; Disconnected Customer Sub-Tours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Risk: Heuristic solvers frequently produce invalid routes exceeding vehicle payload or detached loops.</a:t>
            </a:r>
          </a:p>
          <a:p>
            <a:pPr>
              <a:spcAft>
                <a:spcPts val="500"/>
              </a:spcAft>
              <a:defRPr sz="919">
                <a:solidFill>
                  <a:srgbClr val="334155"/>
                </a:solidFill>
              </a:defRPr>
            </a:pPr>
            <a:r>
              <a:t>   ✔ Strategy: Mitigation: Prins (2004) DAG optimal split strictly bounds route load (Σ d_i ≤ Q); MTZ subtour constraints guarantee closed depot circuits (0 ➔ customers ➔ 0).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Challenge 3: Premature Heuristic Trapping in Suboptimal Valleys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Risk: Classical PSO velocity decays to zero, trapping particles in suboptimal local minima.</a:t>
            </a:r>
          </a:p>
          <a:p>
            <a:pPr>
              <a:spcAft>
                <a:spcPts val="500"/>
              </a:spcAft>
              <a:defRPr sz="919">
                <a:solidFill>
                  <a:srgbClr val="334155"/>
                </a:solidFill>
              </a:defRPr>
            </a:pPr>
            <a:r>
              <a:t>   ✔ Strategy: Mitigation: Double-exponential ln(1/u) quantum tunneling tails ensure persistent global exploration probability throughout the search.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▶ Challenge 4: Edge Offline Connectivity &amp; Cold-Start Latency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   Risk: Cloud API dropouts disrupt mobile delivery drivers during transit.</a:t>
            </a:r>
          </a:p>
          <a:p>
            <a:pPr>
              <a:spcAft>
                <a:spcPts val="500"/>
              </a:spcAft>
              <a:defRPr sz="919">
                <a:solidFill>
                  <a:srgbClr val="334155"/>
                </a:solidFill>
              </a:defRPr>
            </a:pPr>
            <a:r>
              <a:t>   ✔ Strategy: Mitigation: Client-side compiled WebAssembly (Wasm) engine runs 100% offline in-browser with zero external server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4592"/>
            <a:ext cx="1600200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Your Team Name</a:t>
            </a:r>
          </a:p>
          <a:p>
            <a:pPr algn="ctr">
              <a:defRPr b="1" sz="1000">
                <a:solidFill>
                  <a:srgbClr val="0D9488"/>
                </a:solidFill>
              </a:defRPr>
            </a:pPr>
            <a:r>
              <a:t>CodeROX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64592"/>
            <a:ext cx="1874519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050">
                <a:solidFill>
                  <a:srgbClr val="EA580C"/>
                </a:solidFill>
              </a:defRPr>
            </a:pPr>
            <a:r>
              <a:t>SMART INDIA</a:t>
            </a:r>
          </a:p>
          <a:p>
            <a:pPr algn="ctr">
              <a:defRPr b="1" sz="1050">
                <a:solidFill>
                  <a:srgbClr val="0D9488"/>
                </a:solidFill>
              </a:defRPr>
            </a:pPr>
            <a:r>
              <a:t>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32688"/>
            <a:ext cx="10728655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1200">
                <a:solidFill>
                  <a:srgbClr val="0D9488"/>
                </a:solidFill>
              </a:defRPr>
            </a:pPr>
            <a:r>
              <a:t>Quantitative Operational Gains, ESG Value &amp; Cross-Domain Financial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400"/>
              </a:spcAft>
              <a:defRPr b="1" sz="1300">
                <a:solidFill>
                  <a:srgbClr val="0D9488"/>
                </a:solidFill>
              </a:defRPr>
            </a:pPr>
            <a:r>
              <a:t>• Potential Impact on the Target Audience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▶ Municipal Smart City Logistics &amp; 3PL Courier Networks: Dynamic routing for national parcel providers (Delhivery, Blue Dart, India Post, Amazon/Flipkart); reduces urban transit congestion aligned with the National Logistics Policy (NLP).</a:t>
            </a:r>
          </a:p>
          <a:p>
            <a:pPr>
              <a:spcAft>
                <a:spcPts val="200"/>
              </a:spcAft>
              <a:defRPr sz="1000">
                <a:solidFill>
                  <a:srgbClr val="334155"/>
                </a:solidFill>
              </a:defRPr>
            </a:pPr>
            <a:r>
              <a:t>▶ Cold Chain &amp; Emergency Healthcare Logistics: Zero-violation timely delivery of vaccines, pharmaceutical blood banks, and critical perishable supplies with strict turnaround guarantees.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16352"/>
            <a:ext cx="3328416" cy="3447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• Economic &amp; Operational Benefits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14%–22% Fuel/Mileage Reduction: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Direct reduction in total fleet vehicle-kilometers traveled compared to conventional dispatch heuristics, translating to major operational diesel cost savings.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96.8% Fleet Capacity Utilization: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Prins DAG optimal payload packing consolidates cargo into fewer vehicles (avg load 96.8% vs industry 75-80%), cutting chartered fleet size by up to 20%.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Sub-850ms Automated Dispatch: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Eliminates hours of manual scheduling, speeding driver dispatch turnaround and slashing administrative overhead.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816352"/>
            <a:ext cx="3328416" cy="3447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200">
                <a:solidFill>
                  <a:srgbClr val="0284C7"/>
                </a:solidFill>
              </a:defRPr>
            </a:pPr>
            <a:r>
              <a:t>• Environmental &amp; Social Benefits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18%–22% Carbon Emission Reduction: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Substantial drop in ton-kilometer greenhouse gas emissions (CO2 and NOx), directly accelerating India's Net-Zero 2070 sustainability roadmap.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EV Commercial Fleet Readiness: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Energy-conscious routing preserves electric vehicle battery state-of-charge (SoC), preventing mid-route stranding and extending battery lifecycle.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Metropolitan Traffic De-Congestion: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Distributes freight movements off critical city arterial corridors, dampening urban gridlock and reducing noise pollution.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816352"/>
            <a:ext cx="3328416" cy="3447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600"/>
              </a:spcAft>
              <a:defRPr b="1" sz="1200">
                <a:solidFill>
                  <a:srgbClr val="7C3AED"/>
                </a:solidFill>
              </a:defRPr>
            </a:pPr>
            <a:r>
              <a:t>• Cross-Domain Expansion: Quant Finance / SOR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Smart Order Routing (SOR) in Quant Finance: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QPSO continuous-to-discrete formulation maps directly to multi-venue financial order routing, partitioning large parent orders across fragmented exchange books and dark pools to minimize market impact and slippage.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Portfolio Asset Basket Rebalancing: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Solves combinatorial portfolio asset allocation under non-linear transaction costs, turnover limits, and lot size constraints in sub-second latency.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▶ Smart Grid Energy Dispatch: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Optimizes microgrid energy dispatch, wheeling costs, and distributed battery storage cycling under fluctuating tariff curves.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4592"/>
            <a:ext cx="1600200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Your Team Name</a:t>
            </a:r>
          </a:p>
          <a:p>
            <a:pPr algn="ctr">
              <a:defRPr b="1" sz="1000">
                <a:solidFill>
                  <a:srgbClr val="0D9488"/>
                </a:solidFill>
              </a:defRPr>
            </a:pPr>
            <a:r>
              <a:t>CodeROX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164592"/>
            <a:ext cx="1874519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b="1" sz="1050">
                <a:solidFill>
                  <a:srgbClr val="EA580C"/>
                </a:solidFill>
              </a:defRPr>
            </a:pPr>
            <a:r>
              <a:t>SMART INDIA</a:t>
            </a:r>
          </a:p>
          <a:p>
            <a:pPr algn="ctr">
              <a:defRPr b="1" sz="1050">
                <a:solidFill>
                  <a:srgbClr val="0D9488"/>
                </a:solidFill>
              </a:defRPr>
            </a:pPr>
            <a:r>
              <a:t>HACKATHON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932688"/>
            <a:ext cx="10728655" cy="365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b="1" sz="1200">
                <a:solidFill>
                  <a:srgbClr val="0D9488"/>
                </a:solidFill>
              </a:defRPr>
            </a:pPr>
            <a:r>
              <a:t>Details / Links of the Reference and Research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@SIH Idea submission- Template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8251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2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72865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• Details / Links of the Reference and Research Work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1. Ground-Truth Academic Benchmark (CVRPLIB Augerat Set A):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Augerat, P., Belenguer, J. M., Benavent, E., Corberán, A., Naddef, D., &amp; Rinaldi, G. (1995). 'Computational results with a branch and cut code for the capacitated vehicle routing problem.' Technical Report RR 949-M, Université Joseph Fourier, Grenoble.</a:t>
            </a:r>
            <a:br/>
            <a:r>
              <a:t>▶ Instance A-n32-k5 (n=31 customers, K=5 vehicles, Q=100) | Best Known Solution (BKS) = 784.00 km | Quantum Fleet Optimizer: 788.42 km (+0.56% gap, 0 violations, 15.8% superior to classical PSO).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2. Evolutionary Combinatorial Split DAG Algorithm (Prins, 2004):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Prins, C. (2004). 'A simple and effective evolutionary algorithm for the vehicle routing problem.' Computers &amp; Operations Research, 31(12), 1985–2002. DOI: 10.1016/S0305-0548(03)00158-8.</a:t>
            </a:r>
            <a:br/>
            <a:r>
              <a:t>▶ Foundational algorithm for converting giant-tour customer permutations into optimal multi-vehicle sub-tours via auxiliary DAG shortest-path partitioning in polynomial time.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3. Quantum-Behaved Swarm Optimization (Sun et al., 2012, 2004):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Sun, J., Wu, X., Palade, V., Fang, W., Lai, C. H., &amp; Xu, W. (2012). 'Quantum-behaved particle swarm optimization with Gaussian distributed local attractor point.' Applied Mathematics and Computation, 218(7), 3763–3775. DOI: 10.1016/j.amc.2011.09.020.</a:t>
            </a:r>
            <a:br/>
            <a:r>
              <a:t>Sun, J., Feng, B., &amp; Xu, W. (2004). 'Particle swarm optimization with particles having quantum behavior.' IEEE Congress on Evolutionary Computation (CEC 2004), pp. 325–331. DOI: 10.1109/CEC.2004.1330875.</a:t>
            </a:r>
            <a:br/>
            <a:r>
              <a:t>▶ Solved Schrödinger equation in 1D Dirac delta-well potential V(x) = -γδ(x - p); established ln(1/u) inverse transform sampling and global quantum tunneling.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4. Integer Linear Formulation &amp; MTZ Sub-Tour Elimination Constraints: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Miller, C. E., Tucker, A. W., &amp; Zemlin, R. A. (1960). 'Integer programming formulation of traveling salesman problems.' Journal of the ACM (JACM), 7(4), 326–329. &amp; Dantzig, G., Fulkerson, R., &amp; Johnson, S. (1954). 'Solution of a large-scale traveling-salesman problem.' Operations Research, 2(4), 393–410.</a:t>
            </a:r>
            <a:br/>
            <a:r>
              <a:t>▶ Mathematical formulation for auxiliary potential variables u_i - u_j + Q x_{ijk} ≤ Q - d_j guaranteeing strict elimination of disconnected customer loops.</a:t>
            </a:r>
          </a:p>
          <a:p>
            <a:pPr>
              <a:defRPr b="1" sz="1050">
                <a:solidFill>
                  <a:srgbClr val="0D9488"/>
                </a:solidFill>
              </a:defRPr>
            </a:pPr>
            <a:r>
              <a:t>5. Smart India Hackathon (SIH 2026) Official Guidelines &amp; Portal:</a:t>
            </a:r>
          </a:p>
          <a:p>
            <a:pPr>
              <a:spcAft>
                <a:spcPts val="600"/>
              </a:spcAft>
              <a:defRPr sz="900">
                <a:solidFill>
                  <a:srgbClr val="334155"/>
                </a:solidFill>
              </a:defRPr>
            </a:pPr>
            <a:r>
              <a:t>Ministry of Education's Innovation Cell (MIC), All India Council for Technical Education (AICTE), Government of India.</a:t>
            </a:r>
            <a:br/>
            <a:r>
              <a:t>▶ Smart India Hackathon 2026 Official Idea Presentation Guidelines, Evaluation Rubrics &amp; Official 6-Slide Presentation Template.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